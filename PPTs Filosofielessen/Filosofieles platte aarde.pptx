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65" r:id="rId4"/>
    <p:sldId id="262" r:id="rId5"/>
    <p:sldId id="267" r:id="rId6"/>
    <p:sldId id="268" r:id="rId7"/>
    <p:sldId id="266" r:id="rId8"/>
    <p:sldId id="269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69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EA5E82-8EBA-42AC-8BA0-C7CC246C2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E498989-63CA-4BA0-BCB3-0C7897D2B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DF0D136-9385-43AE-8E2C-C12D964D4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D7E5170-8C3A-4A72-B3E0-E8DF6E24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FEED3EE-D98B-4BCD-977C-FE8A1A22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331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20CA1-64AB-40B8-A354-ED73A60D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D8E0A5-4D7B-4476-91A6-2E6F08F96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2DC97-76E5-48E5-BF94-F919C643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00BA9F9-7246-4579-B00A-7AA69028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C5BB27-6E80-4C01-82FE-C850181B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904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7623-D857-4876-A979-FC1A5DE1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180A893-843E-4137-B508-9339DC47B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1D1CE5-535F-403B-84F2-2A669BE1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590C45-7F7D-4B5F-9B11-56642DC6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A1F55A-B15F-4736-88C6-843D419D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741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FD5428-C6B4-42D1-90ED-F1135016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ADDDBB5-4B88-4A8F-BC92-1818F47BB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00DF6C5-1081-4F4B-9A1D-7D9E9101C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BD3826-D8EA-4F35-9149-AB92464C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3E30B54-0857-4040-9EA6-72FDFDDD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B8FAFED-FD0B-4CC9-B067-AB9F24BE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115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71C084-B493-45B4-8B6B-FD10D99D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47BF6A7-F424-4C03-BC63-6A32E1095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4A85543-8F4E-41BB-92B6-D249F8A14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8ADDE12-3203-49DD-A79A-2C98F25E8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C0A6E7A-E87C-403B-AB13-836CAA4E5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E2ACCF3-BA04-459E-A56C-5396F432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CEB0DD1-CD16-4011-A350-F461C108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B10D8CE-F8FE-4905-BDA4-8C505BE72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9482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B0E7D-C615-4E07-A894-57E55602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1A7AEB9-CF71-44F8-84BF-CBEEDDA6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EE1063-4C62-4DCD-879A-19D72C746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BFD3F77-ACC4-4AC6-AC57-DC8E58B5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467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1EBD10C-E1C0-4C23-8732-55DA63D4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C2E62E9-88CF-4BAF-8924-F3D6A0D3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E08B313-9C2A-45C7-BE9D-C2A4E443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084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42ADB-B51E-4A4D-BBC7-122EC464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25E4CA-367E-4741-89DC-FC98159A7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A162340-DA88-40EA-AA0B-D899B6504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C3006A6-86BE-4121-81CC-5F35DC55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899272E-B23D-4D19-B845-7A796B93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16624C5-9D6A-4B56-89A2-D5A78960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408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4F47D-81B5-4822-9892-B1FBD949B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A79F982-FA11-4150-B124-DC8B2538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AA6BD63-0BC7-4001-86D1-1ED0FEB90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B526B90-F0D7-4235-8227-9FA62D0F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FFA4E14-4F5D-4554-AA37-EE4782DD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88F4A1B-E0D4-4DBC-820E-875D6D9E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3402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98844-9474-4369-B50B-FE9B129B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89E1F25-857F-4F33-AE64-8378B4DE1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EBAF5F-9E6C-421D-AC99-BC4F8C57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177909E-E44A-4211-BB03-F1E7A4CD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0FF22A-983B-49AD-B0D7-A4F22ED2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119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363822B-B3E4-4C1F-A031-90DB6A1FF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8935E4E-FB7D-447A-B94F-0FE4EB158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9378333-979B-48BB-8B99-2DD70F14D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365EC19-8DC1-468D-9969-8EBDAD7F9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8DB01B-F75D-4B9E-8355-9D2BC134B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782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5745E17-4FC3-4442-9520-360F7A92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9D650F9-F96D-4099-ADD7-16080D719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B33A66A-43BA-4EA3-98FF-03B3A903B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9F09C-E00E-4261-BE4A-B44C221D907D}" type="datetimeFigureOut">
              <a:rPr lang="nl-NL" smtClean="0"/>
              <a:t>23-1-2026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B83017-F07A-4188-83DD-1B239FB31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C0B339E-8E5A-4F9D-BB6B-804D3334E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0B732-39E5-4BEE-AB83-6F2B9FD4110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744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iki.tfes.org/File:Experiment-2a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s://wiki.tfes.org/File:Experiment-2b.jp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euke feiten over de aarde">
            <a:extLst>
              <a:ext uri="{FF2B5EF4-FFF2-40B4-BE49-F238E27FC236}">
                <a16:creationId xmlns:a16="http://schemas.microsoft.com/office/drawing/2014/main" id="{CB59A339-FA45-4923-9BC0-D905A01C7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56"/>
          <a:stretch/>
        </p:blipFill>
        <p:spPr bwMode="auto">
          <a:xfrm>
            <a:off x="5073489" y="558800"/>
            <a:ext cx="6915311" cy="549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23911DC-8695-414D-8BF8-D8CEE79D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62969"/>
            <a:ext cx="6130940" cy="1675606"/>
          </a:xfrm>
        </p:spPr>
        <p:txBody>
          <a:bodyPr>
            <a:normAutofit/>
          </a:bodyPr>
          <a:lstStyle/>
          <a:p>
            <a:r>
              <a:rPr lang="nl-NL" sz="4200" b="1" dirty="0">
                <a:solidFill>
                  <a:schemeClr val="bg1"/>
                </a:solidFill>
                <a:latin typeface="Agency FB" panose="020B0503020202020204" pitchFamily="34" charset="0"/>
              </a:rPr>
              <a:t>Kunnen wij per definitie uitsluiten dat de aarde plat is?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CF82C7-EBA1-48AE-8A81-2DEB61CAA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3635375"/>
            <a:ext cx="2476500" cy="587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dirty="0">
                <a:solidFill>
                  <a:schemeClr val="bg1"/>
                </a:solidFill>
              </a:rPr>
              <a:t>JP &amp; Nicole</a:t>
            </a:r>
          </a:p>
        </p:txBody>
      </p:sp>
    </p:spTree>
    <p:extLst>
      <p:ext uri="{BB962C8B-B14F-4D97-AF65-F5344CB8AC3E}">
        <p14:creationId xmlns:p14="http://schemas.microsoft.com/office/powerpoint/2010/main" val="281015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079C095-95B8-4663-BB76-D8B128729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00" y="2577534"/>
            <a:ext cx="5537200" cy="3027363"/>
          </a:xfrm>
        </p:spPr>
        <p:txBody>
          <a:bodyPr/>
          <a:lstStyle/>
          <a:p>
            <a:r>
              <a:rPr lang="nl-NL" sz="2000" dirty="0"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 platte schijf</a:t>
            </a:r>
          </a:p>
          <a:p>
            <a:r>
              <a:rPr lang="nl-NL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zon en de maan zijn bolvormige lampen </a:t>
            </a:r>
          </a:p>
          <a:p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Noordpool is de enige pool, ligt in het midden</a:t>
            </a:r>
          </a:p>
          <a:p>
            <a:r>
              <a:rPr lang="nl-NL" sz="2000" dirty="0"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niversal </a:t>
            </a:r>
            <a:r>
              <a:rPr lang="nl-NL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acceleration</a:t>
            </a:r>
            <a:endParaRPr lang="nl-NL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Het firmament </a:t>
            </a:r>
            <a:endParaRPr lang="nl-NL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Rotsbodem </a:t>
            </a:r>
          </a:p>
          <a:p>
            <a:endParaRPr lang="nl-N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CDAB946-F4E2-44AE-919C-EAEDB7D78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899" y="3009900"/>
            <a:ext cx="3919901" cy="3692832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42B07E2D-E781-4FBD-ADF4-8FC70FF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950471"/>
            <a:ext cx="10515600" cy="525463"/>
          </a:xfrm>
        </p:spPr>
        <p:txBody>
          <a:bodyPr>
            <a:normAutofit fontScale="90000"/>
          </a:bodyPr>
          <a:lstStyle/>
          <a:p>
            <a:r>
              <a:rPr lang="nl-NL" sz="3200" b="1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 houdt de theorie van de platte aarde of ‘</a:t>
            </a:r>
            <a:r>
              <a:rPr lang="nl-NL" sz="3200" b="1" dirty="0" err="1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nl-NL" sz="3200" b="1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flat </a:t>
            </a:r>
            <a:r>
              <a:rPr lang="nl-NL" sz="3200" b="1" dirty="0" err="1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earth</a:t>
            </a:r>
            <a:r>
              <a:rPr lang="nl-NL" sz="3200" b="1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in? </a:t>
            </a:r>
            <a:endParaRPr lang="nl-NL" sz="4800" b="1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FD76E5AA-26D4-4E8B-B4CA-7A715DC4954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514237"/>
            <a:ext cx="2324100" cy="215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4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CE3274-BE32-4F99-98CB-13F55BEE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0"/>
            <a:ext cx="5448300" cy="611188"/>
          </a:xfrm>
        </p:spPr>
        <p:txBody>
          <a:bodyPr>
            <a:normAutofit/>
          </a:bodyPr>
          <a:lstStyle/>
          <a:p>
            <a:r>
              <a:rPr lang="nl-NL" sz="2800" b="1" dirty="0">
                <a:latin typeface="Agency FB" panose="020B0503020202020204" pitchFamily="34" charset="0"/>
              </a:rPr>
              <a:t>Waar ko</a:t>
            </a:r>
            <a:r>
              <a:rPr lang="nl-NL" sz="2800" b="1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mt de flat </a:t>
            </a:r>
            <a:r>
              <a:rPr lang="nl-NL" sz="2800" b="1" dirty="0" err="1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earth</a:t>
            </a:r>
            <a:r>
              <a:rPr lang="nl-NL" sz="2800" b="1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theorie vandaan?</a:t>
            </a:r>
            <a:endParaRPr lang="nl-NL" b="1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A8AA71F-4806-4D3B-A572-9AFDC8725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2452688"/>
            <a:ext cx="5448300" cy="2638425"/>
          </a:xfrm>
        </p:spPr>
        <p:txBody>
          <a:bodyPr>
            <a:normAutofit/>
          </a:bodyPr>
          <a:lstStyle/>
          <a:p>
            <a:r>
              <a:rPr lang="nl-NL" sz="2000" dirty="0"/>
              <a:t>Het oude denken</a:t>
            </a:r>
          </a:p>
          <a:p>
            <a:r>
              <a:rPr lang="nl-NL" sz="2000" dirty="0"/>
              <a:t>De invloed van de kerk</a:t>
            </a:r>
          </a:p>
          <a:p>
            <a:r>
              <a:rPr lang="nl-NL" sz="2000" dirty="0"/>
              <a:t>De Renaissance </a:t>
            </a:r>
          </a:p>
          <a:p>
            <a:r>
              <a:rPr lang="nl-NL" sz="2000" dirty="0"/>
              <a:t>Humanisten</a:t>
            </a:r>
          </a:p>
          <a:p>
            <a:r>
              <a:rPr lang="nl-NL" sz="2000" dirty="0"/>
              <a:t>Copernicus </a:t>
            </a:r>
          </a:p>
          <a:p>
            <a:r>
              <a:rPr lang="nl-NL" sz="2000" dirty="0"/>
              <a:t>Wetenschappelijk denken</a:t>
            </a:r>
          </a:p>
        </p:txBody>
      </p:sp>
      <p:pic>
        <p:nvPicPr>
          <p:cNvPr id="4" name="Afbeelding 3" descr="Het wereldbeeld van de Bijbel | Gevormd uit Sterrenstof">
            <a:extLst>
              <a:ext uri="{FF2B5EF4-FFF2-40B4-BE49-F238E27FC236}">
                <a16:creationId xmlns:a16="http://schemas.microsoft.com/office/drawing/2014/main" id="{5BC37179-2016-4494-BBA7-27F5069366AA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4" t="2945" r="3692" b="11685"/>
          <a:stretch/>
        </p:blipFill>
        <p:spPr bwMode="auto">
          <a:xfrm>
            <a:off x="6743700" y="0"/>
            <a:ext cx="5448300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76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7" name="Picture 15" descr="Aarde Die Op Wit Wordt Geplaatst Stock Illustratie - Illustratie bestaande  uit wolkenkraam, noord: 17932872">
            <a:extLst>
              <a:ext uri="{FF2B5EF4-FFF2-40B4-BE49-F238E27FC236}">
                <a16:creationId xmlns:a16="http://schemas.microsoft.com/office/drawing/2014/main" id="{E57FCE47-E29B-4F02-9CD1-462028499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85" b="32930"/>
          <a:stretch/>
        </p:blipFill>
        <p:spPr bwMode="auto">
          <a:xfrm>
            <a:off x="6565900" y="2513934"/>
            <a:ext cx="5626100" cy="434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35957E-FCE7-4C78-92B6-9A75FAE8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250" y="2494775"/>
            <a:ext cx="6051550" cy="24669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Vroeger was het zo dat religie een belangrij</a:t>
            </a:r>
            <a:r>
              <a:rPr lang="nl-NL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ke </a:t>
            </a: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reden was voor het grote geloof in de platte aarde, nu is die rol grotendeels overgenomen door de ‘flat-</a:t>
            </a:r>
            <a:r>
              <a:rPr lang="nl-NL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earth</a:t>
            </a: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society’. </a:t>
            </a:r>
          </a:p>
          <a:p>
            <a:pPr marL="0" indent="0">
              <a:buNone/>
            </a:pPr>
            <a:endParaRPr lang="nl-NL" sz="20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 hoeverre denken jullie dat het internet </a:t>
            </a:r>
            <a:r>
              <a:rPr lang="nl-NL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im</a:t>
            </a: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pact heeft gehad op de groei van dit </a:t>
            </a:r>
            <a:r>
              <a:rPr lang="nl-NL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soort </a:t>
            </a: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groepen? </a:t>
            </a:r>
            <a:endParaRPr lang="nl-NL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l-NL" dirty="0"/>
              <a:t>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41007A-219E-4623-885B-7BA1632B2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l-NL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BCF06CBB-FD3C-4B57-BFB1-41AAC4A7B77D}"/>
              </a:ext>
            </a:extLst>
          </p:cNvPr>
          <p:cNvSpPr txBox="1">
            <a:spLocks/>
          </p:cNvSpPr>
          <p:nvPr/>
        </p:nvSpPr>
        <p:spPr>
          <a:xfrm>
            <a:off x="1365250" y="1811608"/>
            <a:ext cx="5003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b="1" dirty="0">
                <a:latin typeface="Agency FB" panose="020B0503020202020204" pitchFamily="34" charset="0"/>
              </a:rPr>
              <a:t>Opdracht 1.  </a:t>
            </a:r>
          </a:p>
        </p:txBody>
      </p:sp>
    </p:spTree>
    <p:extLst>
      <p:ext uri="{BB962C8B-B14F-4D97-AF65-F5344CB8AC3E}">
        <p14:creationId xmlns:p14="http://schemas.microsoft.com/office/powerpoint/2010/main" val="986925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F7158-0956-496B-8886-12387C32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2827"/>
            <a:ext cx="4953000" cy="1325563"/>
          </a:xfrm>
        </p:spPr>
        <p:txBody>
          <a:bodyPr>
            <a:normAutofit/>
          </a:bodyPr>
          <a:lstStyle/>
          <a:p>
            <a:r>
              <a:rPr lang="nl-NL" sz="2800" b="1" dirty="0">
                <a:latin typeface="Agency FB" panose="020B0503020202020204" pitchFamily="34" charset="0"/>
              </a:rPr>
              <a:t>The Bedford </a:t>
            </a:r>
            <a:r>
              <a:rPr lang="nl-NL" sz="2800" b="1" dirty="0" err="1">
                <a:latin typeface="Agency FB" panose="020B0503020202020204" pitchFamily="34" charset="0"/>
              </a:rPr>
              <a:t>Canal</a:t>
            </a:r>
            <a:r>
              <a:rPr lang="nl-NL" sz="2800" b="1" dirty="0">
                <a:latin typeface="Agency FB" panose="020B0503020202020204" pitchFamily="34" charset="0"/>
              </a:rPr>
              <a:t> </a:t>
            </a:r>
            <a:r>
              <a:rPr lang="nl-NL" sz="2800" b="1" dirty="0" err="1">
                <a:latin typeface="Agency FB" panose="020B0503020202020204" pitchFamily="34" charset="0"/>
              </a:rPr>
              <a:t>Experiments</a:t>
            </a:r>
            <a:endParaRPr lang="nl-NL" sz="2800" b="1" dirty="0">
              <a:latin typeface="Agency FB" panose="020B0503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1D6544-4DFE-4257-BCC2-888290C5B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9897"/>
            <a:ext cx="4330700" cy="2657475"/>
          </a:xfrm>
        </p:spPr>
        <p:txBody>
          <a:bodyPr>
            <a:normAutofit/>
          </a:bodyPr>
          <a:lstStyle/>
          <a:p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Samuel </a:t>
            </a:r>
            <a:r>
              <a:rPr lang="nl-NL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Birley</a:t>
            </a: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nl-NL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Rowbotham</a:t>
            </a: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           (1816-1884) </a:t>
            </a:r>
          </a:p>
          <a:p>
            <a:r>
              <a:rPr lang="nl-NL" sz="2000" dirty="0">
                <a:solidFill>
                  <a:srgbClr val="25252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AB evenwijdig was met CD</a:t>
            </a:r>
            <a:r>
              <a:rPr lang="nl-NL" sz="2000" dirty="0">
                <a:solidFill>
                  <a:srgbClr val="252525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, dus aarde plat</a:t>
            </a:r>
          </a:p>
          <a:p>
            <a:r>
              <a:rPr lang="nl-NL" sz="2000" dirty="0">
                <a:solidFill>
                  <a:srgbClr val="252525"/>
                </a:solidFill>
                <a:latin typeface="Calibri" panose="020F0502020204030204" pitchFamily="34" charset="0"/>
              </a:rPr>
              <a:t>Als aarde bolvormig is zou uitkomst lijken op afbeelding 2.</a:t>
            </a:r>
            <a:endParaRPr lang="nl-NL" sz="3200" dirty="0"/>
          </a:p>
        </p:txBody>
      </p:sp>
      <p:pic>
        <p:nvPicPr>
          <p:cNvPr id="4" name="Afbeelding 3">
            <a:hlinkClick r:id="rId2"/>
            <a:extLst>
              <a:ext uri="{FF2B5EF4-FFF2-40B4-BE49-F238E27FC236}">
                <a16:creationId xmlns:a16="http://schemas.microsoft.com/office/drawing/2014/main" id="{AAFA9D6C-DB56-455E-9A51-10011713530C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1" b="6137"/>
          <a:stretch/>
        </p:blipFill>
        <p:spPr bwMode="auto">
          <a:xfrm>
            <a:off x="5791200" y="681037"/>
            <a:ext cx="6197600" cy="18867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Afbeelding 4">
            <a:hlinkClick r:id="rId4"/>
            <a:extLst>
              <a:ext uri="{FF2B5EF4-FFF2-40B4-BE49-F238E27FC236}">
                <a16:creationId xmlns:a16="http://schemas.microsoft.com/office/drawing/2014/main" id="{AD8B47D3-8807-4996-9D5C-99F5D55F9C7D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" b="3564"/>
          <a:stretch/>
        </p:blipFill>
        <p:spPr bwMode="auto">
          <a:xfrm>
            <a:off x="5930900" y="3429000"/>
            <a:ext cx="5918200" cy="24542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8F2FA262-6081-4C32-BF76-5D226EBB42B7}"/>
              </a:ext>
            </a:extLst>
          </p:cNvPr>
          <p:cNvSpPr txBox="1"/>
          <p:nvPr/>
        </p:nvSpPr>
        <p:spPr>
          <a:xfrm>
            <a:off x="6235700" y="2702717"/>
            <a:ext cx="200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i="1" dirty="0"/>
              <a:t>Afbeelding 1. 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B185B40-32D5-450A-A9B0-9B9276AE854C}"/>
              </a:ext>
            </a:extLst>
          </p:cNvPr>
          <p:cNvSpPr txBox="1"/>
          <p:nvPr/>
        </p:nvSpPr>
        <p:spPr>
          <a:xfrm>
            <a:off x="6235700" y="5217317"/>
            <a:ext cx="200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i="1" dirty="0"/>
              <a:t>Afbeelding 2. 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9ACEC59-A6B5-4EEE-B0CC-F86BE3D25DB1}"/>
              </a:ext>
            </a:extLst>
          </p:cNvPr>
          <p:cNvSpPr txBox="1"/>
          <p:nvPr/>
        </p:nvSpPr>
        <p:spPr>
          <a:xfrm rot="5400000">
            <a:off x="6983428" y="1622015"/>
            <a:ext cx="711200" cy="403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/>
              <a:t>1.5m</a:t>
            </a:r>
            <a:r>
              <a:rPr lang="nl-NL" sz="20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402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flat-earth-light-experiment-behind-the-curve-netflix-documentary">
            <a:extLst>
              <a:ext uri="{FF2B5EF4-FFF2-40B4-BE49-F238E27FC236}">
                <a16:creationId xmlns:a16="http://schemas.microsoft.com/office/drawing/2014/main" id="{E67B8205-019C-4526-9015-4FD69B64DF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04" y="1873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73690FA-FACE-41AC-AD44-728F06BFB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87325"/>
            <a:ext cx="4368800" cy="1325563"/>
          </a:xfrm>
        </p:spPr>
        <p:txBody>
          <a:bodyPr>
            <a:normAutofit/>
          </a:bodyPr>
          <a:lstStyle/>
          <a:p>
            <a:r>
              <a:rPr lang="nl-NL" sz="36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Behind</a:t>
            </a:r>
            <a:r>
              <a:rPr lang="nl-NL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nl-NL" sz="36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the</a:t>
            </a:r>
            <a:r>
              <a:rPr lang="nl-NL" sz="3600" b="1" dirty="0">
                <a:solidFill>
                  <a:schemeClr val="bg1"/>
                </a:solidFill>
                <a:latin typeface="Agency FB" panose="020B0503020202020204" pitchFamily="34" charset="0"/>
              </a:rPr>
              <a:t> Curve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31F5290-53BF-45A7-A7D1-D790FCF75CA6}"/>
              </a:ext>
            </a:extLst>
          </p:cNvPr>
          <p:cNvSpPr txBox="1"/>
          <p:nvPr/>
        </p:nvSpPr>
        <p:spPr>
          <a:xfrm>
            <a:off x="8674300" y="269416"/>
            <a:ext cx="3432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Campanella’s</a:t>
            </a:r>
            <a:r>
              <a:rPr lang="nl-N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Twee gaten op dezelfde hoogte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 schijnt licht doorheen, dit moet op de camera te zien zijn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Het licht was niet op de camera te zien, wat het tegendeel bewees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02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7" name="Picture 15" descr="Aarde Die Op Wit Wordt Geplaatst Stock Illustratie - Illustratie bestaande  uit wolkenkraam, noord: 17932872">
            <a:extLst>
              <a:ext uri="{FF2B5EF4-FFF2-40B4-BE49-F238E27FC236}">
                <a16:creationId xmlns:a16="http://schemas.microsoft.com/office/drawing/2014/main" id="{E57FCE47-E29B-4F02-9CD1-462028499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85" b="32930"/>
          <a:stretch/>
        </p:blipFill>
        <p:spPr bwMode="auto">
          <a:xfrm>
            <a:off x="6385834" y="2374900"/>
            <a:ext cx="5806166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35957E-FCE7-4C78-92B6-9A75FAE8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034" y="2715400"/>
            <a:ext cx="6657066" cy="1901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Welk experiment is volgens jou betrouwbaarder en waarom?</a:t>
            </a:r>
          </a:p>
          <a:p>
            <a:pPr marL="0" indent="0">
              <a:buNone/>
            </a:pPr>
            <a:endParaRPr lang="nl-NL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nl-NL" sz="2000" dirty="0">
                <a:latin typeface="Calibri" panose="020F0502020204030204" pitchFamily="34" charset="0"/>
                <a:ea typeface="Calibri" panose="020F0502020204030204" pitchFamily="34" charset="0"/>
              </a:rPr>
              <a:t>Experiment 1: The Bedford </a:t>
            </a:r>
            <a:r>
              <a:rPr lang="nl-NL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Canal</a:t>
            </a:r>
            <a:r>
              <a:rPr lang="nl-NL" sz="20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nl-NL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Experiments</a:t>
            </a:r>
            <a:endParaRPr lang="nl-NL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Experiment 2: </a:t>
            </a:r>
            <a:r>
              <a:rPr lang="nl-NL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Behind</a:t>
            </a: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nl-NL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nl-NL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Curve </a:t>
            </a:r>
            <a:r>
              <a:rPr lang="nl-NL" sz="2000" dirty="0"/>
              <a:t>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41007A-219E-4623-885B-7BA1632B2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l-NL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BCF06CBB-FD3C-4B57-BFB1-41AAC4A7B77D}"/>
              </a:ext>
            </a:extLst>
          </p:cNvPr>
          <p:cNvSpPr txBox="1">
            <a:spLocks/>
          </p:cNvSpPr>
          <p:nvPr/>
        </p:nvSpPr>
        <p:spPr>
          <a:xfrm>
            <a:off x="1382034" y="1906164"/>
            <a:ext cx="5003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b="1" dirty="0">
                <a:latin typeface="Agency FB" panose="020B0503020202020204" pitchFamily="34" charset="0"/>
              </a:rPr>
              <a:t>Opdracht 2.  </a:t>
            </a:r>
          </a:p>
        </p:txBody>
      </p:sp>
    </p:spTree>
    <p:extLst>
      <p:ext uri="{BB962C8B-B14F-4D97-AF65-F5344CB8AC3E}">
        <p14:creationId xmlns:p14="http://schemas.microsoft.com/office/powerpoint/2010/main" val="138508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5" descr="Aarde Die Op Wit Wordt Geplaatst Stock Illustratie - Illustratie bestaande  uit wolkenkraam, noord: 17932872">
            <a:extLst>
              <a:ext uri="{FF2B5EF4-FFF2-40B4-BE49-F238E27FC236}">
                <a16:creationId xmlns:a16="http://schemas.microsoft.com/office/drawing/2014/main" id="{0AF22483-F41E-42B9-B6C5-94AD7A4AF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85" b="32930"/>
          <a:stretch/>
        </p:blipFill>
        <p:spPr bwMode="auto">
          <a:xfrm>
            <a:off x="6385834" y="2374900"/>
            <a:ext cx="5806166" cy="448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35957E-FCE7-4C78-92B6-9A75FAE8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034" y="2715400"/>
            <a:ext cx="6390366" cy="190105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Zelf argumenten voor of tegen platte aarde bedenken. </a:t>
            </a:r>
            <a:endParaRPr lang="nl-NL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nl-NL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Neem zelf een standpunt in (aarde rond of plat) en bedenk 3 argumenten die jouw standpunt ondersteunen.  </a:t>
            </a:r>
            <a:endParaRPr lang="nl-NL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741007A-219E-4623-885B-7BA1632B2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l-NL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D093EA71-98D5-46E1-B83C-279A5A364B16}"/>
              </a:ext>
            </a:extLst>
          </p:cNvPr>
          <p:cNvSpPr txBox="1">
            <a:spLocks/>
          </p:cNvSpPr>
          <p:nvPr/>
        </p:nvSpPr>
        <p:spPr>
          <a:xfrm>
            <a:off x="1382034" y="1906164"/>
            <a:ext cx="5003800" cy="84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3600" b="1" dirty="0">
                <a:latin typeface="Agency FB" panose="020B0503020202020204" pitchFamily="34" charset="0"/>
              </a:rPr>
              <a:t>Opdracht 3.  </a:t>
            </a:r>
          </a:p>
        </p:txBody>
      </p:sp>
    </p:spTree>
    <p:extLst>
      <p:ext uri="{BB962C8B-B14F-4D97-AF65-F5344CB8AC3E}">
        <p14:creationId xmlns:p14="http://schemas.microsoft.com/office/powerpoint/2010/main" val="20669759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06c9a79-cd2f-4406-af54-da39c22f38f9}" enabled="0" method="" siteId="{406c9a79-cd2f-4406-af54-da39c22f38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4286</TotalTime>
  <Words>262</Words>
  <Application>Microsoft Office PowerPoint</Application>
  <PresentationFormat>Breedbeeld</PresentationFormat>
  <Paragraphs>41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5" baseType="lpstr">
      <vt:lpstr>Agency FB</vt:lpstr>
      <vt:lpstr>Arial</vt:lpstr>
      <vt:lpstr>Calibri</vt:lpstr>
      <vt:lpstr>Calibri Light</vt:lpstr>
      <vt:lpstr>Symbol</vt:lpstr>
      <vt:lpstr>Times New Roman</vt:lpstr>
      <vt:lpstr>Kantoorthema</vt:lpstr>
      <vt:lpstr>Kunnen wij per definitie uitsluiten dat de aarde plat is? </vt:lpstr>
      <vt:lpstr>Wat houdt de theorie van de platte aarde of ‘the flat earth’ in? </vt:lpstr>
      <vt:lpstr>Waar komt de flat earth theorie vandaan?</vt:lpstr>
      <vt:lpstr>PowerPoint-presentatie</vt:lpstr>
      <vt:lpstr>The Bedford Canal Experiments</vt:lpstr>
      <vt:lpstr>Behind the Curve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Filo</dc:title>
  <dc:creator>Nicole Vriens</dc:creator>
  <cp:lastModifiedBy>Martin Struik</cp:lastModifiedBy>
  <cp:revision>25</cp:revision>
  <dcterms:created xsi:type="dcterms:W3CDTF">2021-05-14T15:17:34Z</dcterms:created>
  <dcterms:modified xsi:type="dcterms:W3CDTF">2026-01-23T21:05:50Z</dcterms:modified>
</cp:coreProperties>
</file>